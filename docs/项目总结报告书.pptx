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74" r:id="rId16"/>
    <p:sldId id="275" r:id="rId17"/>
    <p:sldId id="269" r:id="rId18"/>
    <p:sldId id="270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417" autoAdjust="0"/>
  </p:normalViewPr>
  <p:slideViewPr>
    <p:cSldViewPr snapToGrid="0" snapToObjects="1">
      <p:cViewPr>
        <p:scale>
          <a:sx n="100" d="100"/>
          <a:sy n="100" d="100"/>
        </p:scale>
        <p:origin x="75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文件数</c:v>
                </c:pt>
              </c:strCache>
            </c:strRef>
          </c:tx>
          <c:spPr>
            <a:solidFill>
              <a:srgbClr val="5BC0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E8EEF7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model</c:v>
                </c:pt>
                <c:pt idx="1">
                  <c:v>view</c:v>
                </c:pt>
                <c:pt idx="2">
                  <c:v>control</c:v>
                </c:pt>
                <c:pt idx="3">
                  <c:v>data</c:v>
                </c:pt>
                <c:pt idx="4">
                  <c:v>model/ai</c:v>
                </c:pt>
                <c:pt idx="5">
                  <c:v>audio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9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34-4C64-A7B5-71C350A5AD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B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151F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51F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类型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C0EB"/>
              </a:solidFill>
              <a:ln w="25400" cap="flat">
                <a:solidFill>
                  <a:srgbClr val="151F35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107-4656-8A5E-0F01D76618D0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ln w="25400" cap="flat">
                <a:solidFill>
                  <a:srgbClr val="151F35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107-4656-8A5E-0F01D76618D0}"/>
              </c:ext>
            </c:extLst>
          </c:dPt>
          <c:cat>
            <c:strRef>
              <c:f>Sheet1!$A$2:$A$3</c:f>
              <c:strCache>
                <c:ptCount val="2"/>
                <c:pt idx="0">
                  <c:v>单元测试 (99)</c:v>
                </c:pt>
                <c:pt idx="1">
                  <c:v>集成测试 (8)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07-4656-8A5E-0F01D76618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B9BB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684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52D1-2AA4-E889-7981-BDEC87E85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B98FA-9F18-23E4-9258-9C6FDF60C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F9172-1C3C-00D6-C2F7-F18774DDB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FFAD-82E3-CBBB-2C11-185BC46D70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5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D340-3590-C10E-94AB-0F7E0000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CD00E-7CA1-DA38-F19F-6B395CB43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CD1FF-1730-FE04-79B1-1DD2D12BA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99C6C-2FE6-402B-C8BD-0D0F83AAA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37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86C47-7D58-1A76-F436-A55182BA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E5015-9CF5-51BD-9935-85D40B89D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DCEBD-B8F8-0510-73F2-5758289F4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523A6-BD0C-799B-D7F2-F431C710C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81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79FE-EA45-E80E-DCF6-31D5643E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0A8C7-A5DC-279C-B446-583F11199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2A392-F529-46D6-8605-688E4E719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A719-9749-8850-56AB-200C85A8EB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58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7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731520"/>
            <a:ext cx="5120640" cy="5120640"/>
          </a:xfrm>
          <a:prstGeom prst="ellipse">
            <a:avLst/>
          </a:prstGeom>
          <a:solidFill>
            <a:srgbClr val="0B1220">
              <a:alpha val="0"/>
            </a:srgbClr>
          </a:solidFill>
          <a:ln w="9525">
            <a:solidFill>
              <a:srgbClr val="5BC0E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91440"/>
            <a:ext cx="3840480" cy="3840480"/>
          </a:xfrm>
          <a:prstGeom prst="ellipse">
            <a:avLst/>
          </a:prstGeom>
          <a:solidFill>
            <a:srgbClr val="0B1220">
              <a:alpha val="0"/>
            </a:srgbClr>
          </a:solidFill>
          <a:ln w="9525">
            <a:solidFill>
              <a:srgbClr val="5BC0EB">
                <a:alpha val="1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548640"/>
            <a:ext cx="2560320" cy="2560320"/>
          </a:xfrm>
          <a:prstGeom prst="ellipse">
            <a:avLst/>
          </a:prstGeom>
          <a:solidFill>
            <a:srgbClr val="0B1220">
              <a:alpha val="0"/>
            </a:srgbClr>
          </a:solidFill>
          <a:ln w="9525">
            <a:solidFill>
              <a:srgbClr val="5BC0EB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1188720"/>
            <a:ext cx="1280160" cy="1280160"/>
          </a:xfrm>
          <a:prstGeom prst="ellipse">
            <a:avLst/>
          </a:prstGeom>
          <a:solidFill>
            <a:srgbClr val="0B1220">
              <a:alpha val="0"/>
            </a:srgbClr>
          </a:solidFill>
          <a:ln w="9525">
            <a:solidFill>
              <a:srgbClr val="5BC0EB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1828800"/>
            <a:ext cx="5120640" cy="0"/>
          </a:xfrm>
          <a:prstGeom prst="line">
            <a:avLst/>
          </a:prstGeom>
          <a:noFill/>
          <a:ln w="6350">
            <a:solidFill>
              <a:srgbClr val="5BC0EB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-731520"/>
            <a:ext cx="0" cy="5120640"/>
          </a:xfrm>
          <a:prstGeom prst="line">
            <a:avLst/>
          </a:prstGeom>
          <a:noFill/>
          <a:ln w="6350">
            <a:solidFill>
              <a:srgbClr val="5BC0EB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TACTICAL AUTO-BATTLER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868680" cy="868680"/>
          </a:xfrm>
          <a:prstGeom prst="ellipse">
            <a:avLst/>
          </a:prstGeom>
          <a:solidFill>
            <a:srgbClr val="5BC0EB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2374697"/>
            <a:ext cx="416966" cy="4169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1993392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4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GDUWS</a:t>
            </a:r>
            <a:endParaRPr lang="en-US" sz="7400" dirty="0"/>
          </a:p>
        </p:txBody>
      </p:sp>
      <p:sp>
        <p:nvSpPr>
          <p:cNvPr id="12" name="Text 9"/>
          <p:cNvSpPr/>
          <p:nvPr/>
        </p:nvSpPr>
        <p:spPr>
          <a:xfrm>
            <a:off x="1719072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Domains · Unmanned Warfare Sim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719072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模拟无人作战的战术层自走棋 —— 布兵定胜负，战斗全自动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920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96112" y="5138928"/>
            <a:ext cx="566928" cy="56692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13" y="5286329"/>
            <a:ext cx="272125" cy="272125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2852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51389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645920" y="5413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杨茂靓 · </a:t>
            </a:r>
            <a:r>
              <a:rPr lang="zh-CN" alt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金政轩</a:t>
            </a: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zh-CN" alt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丁开琦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480560" y="48920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36592" y="5138928"/>
            <a:ext cx="566928" cy="56692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993" y="5286329"/>
            <a:ext cx="272125" cy="272125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52852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0" y="51389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周期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486400" y="5413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2026-05-29 ~ 2026-06-20 · 46 次提交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8321040" y="489204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577072" y="5138928"/>
            <a:ext cx="566928" cy="56692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473" y="5286329"/>
            <a:ext cx="272125" cy="272125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5285232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326880" y="51389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9326880" y="5413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软件工程课程结课答辩 · </a:t>
            </a:r>
          </a:p>
          <a:p>
            <a:pPr marL="0" indent="0">
              <a:buNone/>
            </a:pPr>
            <a:r>
              <a:rPr lang="en-US" sz="1150" dirty="0" err="1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项目总结报告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项目背景与定位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765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040941"/>
            <a:ext cx="307238" cy="307238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19385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</a:rPr>
              <a:t>GDUWS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68680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68680" y="294436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模拟无人作战的战术层自走棋 / 自动对战小游戏。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68680" y="38221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玩法核心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68680" y="4114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玩家布置侦察 / 打击两类无人单位，开战后战斗全自动进行，胜负由双方损失比例判定。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68680" y="49926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设计灵感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68680" y="528523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以经典 RTS《Rusted Warfare（铁锈战争）》为分析参考，复用其美术素材并重构机制。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217920" y="1554480"/>
            <a:ext cx="2670048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73952" y="1828800"/>
            <a:ext cx="713232" cy="713232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392" y="2014240"/>
            <a:ext cx="342351" cy="342351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01168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73952" y="26974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战术层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473952" y="3090672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聚焦兵种克制与布阵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而非微操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125712" y="1554480"/>
            <a:ext cx="2670048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381744" y="1828800"/>
            <a:ext cx="713232" cy="713232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7184" y="2014240"/>
            <a:ext cx="342351" cy="342351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624" y="201168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381744" y="269748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自走棋式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9381744" y="3090672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布兵后无操控，观战看结果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217920" y="4032504"/>
            <a:ext cx="2670048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473952" y="4306824"/>
            <a:ext cx="713232" cy="713232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9392" y="4492264"/>
            <a:ext cx="342351" cy="342351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489704"/>
            <a:ext cx="347472" cy="3474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473952" y="5175504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无人作战</a:t>
            </a:r>
            <a:endParaRPr lang="en-US" sz="1700" dirty="0"/>
          </a:p>
        </p:txBody>
      </p:sp>
      <p:sp>
        <p:nvSpPr>
          <p:cNvPr id="34" name="Text 24"/>
          <p:cNvSpPr/>
          <p:nvPr/>
        </p:nvSpPr>
        <p:spPr>
          <a:xfrm>
            <a:off x="6473952" y="5568696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侦察—打击协同的纯 AI 对抗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9125712" y="4032504"/>
            <a:ext cx="2670048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9381744" y="4306824"/>
            <a:ext cx="713232" cy="713232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7184" y="4492264"/>
            <a:ext cx="342351" cy="342351"/>
          </a:xfrm>
          <a:prstGeom prst="rect">
            <a:avLst/>
          </a:prstGeom>
        </p:spPr>
      </p:pic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624" y="4489704"/>
            <a:ext cx="347472" cy="34747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9381744" y="5175504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损失比定胜负</a:t>
            </a:r>
            <a:endParaRPr lang="en-US" sz="1700" dirty="0"/>
          </a:p>
        </p:txBody>
      </p:sp>
      <p:sp>
        <p:nvSpPr>
          <p:cNvPr id="40" name="Text 28"/>
          <p:cNvSpPr/>
          <p:nvPr/>
        </p:nvSpPr>
        <p:spPr>
          <a:xfrm>
            <a:off x="9381744" y="5568696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全歼 / 损失超 90% / 僵持超时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GAMEPLAY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功能范围与玩法概览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一局游戏的完整闭环 —— 已可无重启重玩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7180" y="21031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97280" y="2880360"/>
            <a:ext cx="914400" cy="91440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3118104"/>
            <a:ext cx="438912" cy="438912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31272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" y="3931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选关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0060" y="4343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LEVEL_SELECT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25780" y="46634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从关卡列表选择地图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加载分层地形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932" y="3538728"/>
            <a:ext cx="347472" cy="3474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314700" y="21031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349758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4114800" y="2880360"/>
            <a:ext cx="914400" cy="91440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3118104"/>
            <a:ext cx="438912" cy="438912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127248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497580" y="3931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布兵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3497580" y="4343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3543300" y="46634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 / 配额制放置侦察与打击单位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3538728"/>
            <a:ext cx="347472" cy="34747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332220" y="21031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651510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7" name="Shape 19"/>
          <p:cNvSpPr/>
          <p:nvPr/>
        </p:nvSpPr>
        <p:spPr>
          <a:xfrm>
            <a:off x="7132320" y="2880360"/>
            <a:ext cx="914400" cy="91440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3118104"/>
            <a:ext cx="438912" cy="438912"/>
          </a:xfrm>
          <a:prstGeom prst="rect">
            <a:avLst/>
          </a:prstGeom>
        </p:spPr>
      </p:pic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3127248"/>
            <a:ext cx="420624" cy="42062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515100" y="3931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自动战斗</a:t>
            </a:r>
            <a:endParaRPr lang="en-US" sz="2000" dirty="0"/>
          </a:p>
        </p:txBody>
      </p:sp>
      <p:sp>
        <p:nvSpPr>
          <p:cNvPr id="31" name="Text 21"/>
          <p:cNvSpPr/>
          <p:nvPr/>
        </p:nvSpPr>
        <p:spPr>
          <a:xfrm>
            <a:off x="6515100" y="4343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</a:t>
            </a:r>
            <a:endParaRPr lang="en-US" sz="1050" dirty="0"/>
          </a:p>
        </p:txBody>
      </p:sp>
      <p:sp>
        <p:nvSpPr>
          <p:cNvPr id="32" name="Text 22"/>
          <p:cNvSpPr/>
          <p:nvPr/>
        </p:nvSpPr>
        <p:spPr>
          <a:xfrm>
            <a:off x="6560820" y="46634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tick/s </a:t>
            </a:r>
            <a:r>
              <a:rPr lang="en-US" sz="11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推演，AI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</a:t>
            </a:r>
            <a:endParaRPr lang="en-US" sz="1100" dirty="0">
              <a:solidFill>
                <a:srgbClr val="8B9B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侦察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—打击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9972" y="3538728"/>
            <a:ext cx="347472" cy="347472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9349740" y="21031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24"/>
          <p:cNvSpPr/>
          <p:nvPr/>
        </p:nvSpPr>
        <p:spPr>
          <a:xfrm>
            <a:off x="953262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36" name="Shape 25"/>
          <p:cNvSpPr/>
          <p:nvPr/>
        </p:nvSpPr>
        <p:spPr>
          <a:xfrm>
            <a:off x="10149840" y="2880360"/>
            <a:ext cx="914400" cy="91440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7584" y="3118104"/>
            <a:ext cx="438912" cy="438912"/>
          </a:xfrm>
          <a:prstGeom prst="rect">
            <a:avLst/>
          </a:prstGeom>
        </p:spPr>
      </p:pic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0152" y="3127248"/>
            <a:ext cx="420624" cy="42062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9532620" y="39319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结算</a:t>
            </a:r>
            <a:endParaRPr lang="en-US" sz="2000" dirty="0"/>
          </a:p>
        </p:txBody>
      </p:sp>
      <p:sp>
        <p:nvSpPr>
          <p:cNvPr id="40" name="Text 27"/>
          <p:cNvSpPr/>
          <p:nvPr/>
        </p:nvSpPr>
        <p:spPr>
          <a:xfrm>
            <a:off x="9532620" y="4343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41" name="Text 28"/>
          <p:cNvSpPr/>
          <p:nvPr/>
        </p:nvSpPr>
        <p:spPr>
          <a:xfrm>
            <a:off x="9578340" y="46634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按损失比判胜负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给出结算原因</a:t>
            </a:r>
            <a:endParaRPr lang="en-US" sz="1100" dirty="0"/>
          </a:p>
        </p:txBody>
      </p:sp>
      <p:sp>
        <p:nvSpPr>
          <p:cNvPr id="42" name="Text 29"/>
          <p:cNvSpPr/>
          <p:nvPr/>
        </p:nvSpPr>
        <p:spPr>
          <a:xfrm>
            <a:off x="297180" y="5623560"/>
            <a:ext cx="2617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BC0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43" name="Text 30"/>
          <p:cNvSpPr/>
          <p:nvPr/>
        </p:nvSpPr>
        <p:spPr>
          <a:xfrm>
            <a:off x="297180" y="6144768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可用兵种</a:t>
            </a:r>
            <a:endParaRPr lang="en-US" sz="1100" dirty="0"/>
          </a:p>
        </p:txBody>
      </p:sp>
      <p:sp>
        <p:nvSpPr>
          <p:cNvPr id="44" name="Text 31"/>
          <p:cNvSpPr/>
          <p:nvPr/>
        </p:nvSpPr>
        <p:spPr>
          <a:xfrm>
            <a:off x="3280410" y="5623560"/>
            <a:ext cx="2617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BC0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45" name="Text 32"/>
          <p:cNvSpPr/>
          <p:nvPr/>
        </p:nvSpPr>
        <p:spPr>
          <a:xfrm>
            <a:off x="3280410" y="6144768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关卡地图</a:t>
            </a:r>
            <a:endParaRPr lang="en-US" sz="1100" dirty="0"/>
          </a:p>
        </p:txBody>
      </p:sp>
      <p:sp>
        <p:nvSpPr>
          <p:cNvPr id="46" name="Text 33"/>
          <p:cNvSpPr/>
          <p:nvPr/>
        </p:nvSpPr>
        <p:spPr>
          <a:xfrm>
            <a:off x="6263640" y="5623560"/>
            <a:ext cx="2617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BC0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47" name="Text 34"/>
          <p:cNvSpPr/>
          <p:nvPr/>
        </p:nvSpPr>
        <p:spPr>
          <a:xfrm>
            <a:off x="6263640" y="6144768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游戏状态机</a:t>
            </a:r>
            <a:endParaRPr lang="en-US" sz="1100" dirty="0"/>
          </a:p>
        </p:txBody>
      </p:sp>
      <p:sp>
        <p:nvSpPr>
          <p:cNvPr id="48" name="Text 35"/>
          <p:cNvSpPr/>
          <p:nvPr/>
        </p:nvSpPr>
        <p:spPr>
          <a:xfrm>
            <a:off x="9246870" y="5623560"/>
            <a:ext cx="2617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BC0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200" dirty="0"/>
          </a:p>
        </p:txBody>
      </p:sp>
      <p:sp>
        <p:nvSpPr>
          <p:cNvPr id="49" name="Text 36"/>
          <p:cNvSpPr/>
          <p:nvPr/>
        </p:nvSpPr>
        <p:spPr>
          <a:xfrm>
            <a:off x="9246870" y="6144768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功能需求 FR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系统架构：MVC + 仿真 / 渲染分离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1024128"/>
          </a:xfrm>
          <a:prstGeom prst="roundRect">
            <a:avLst>
              <a:gd name="adj" fmla="val 8036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37944"/>
            <a:ext cx="548640" cy="54864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1980590"/>
            <a:ext cx="263347" cy="263347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8424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7647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 </a:t>
            </a: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表现层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2130552"/>
            <a:ext cx="5623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GameFrame · GamePanel · GameRenderer · FogRenderer · InputHandler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005840" y="25786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8C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2788920"/>
            <a:ext cx="6766560" cy="1024128"/>
          </a:xfrm>
          <a:prstGeom prst="roundRect">
            <a:avLst>
              <a:gd name="adj" fmla="val 8036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4672" y="3026664"/>
            <a:ext cx="548640" cy="54864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3169310"/>
            <a:ext cx="263347" cy="263347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17296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29535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</a:t>
            </a: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控制层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508760" y="3319272"/>
            <a:ext cx="5623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GameStateManager · GameLoop(30 tick/s) · DeployController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005840" y="3767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8C"/>
                </a:solidFill>
              </a:rPr>
              <a:t>▼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6766560" cy="1024128"/>
          </a:xfrm>
          <a:prstGeom prst="roundRect">
            <a:avLst>
              <a:gd name="adj" fmla="val 8036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4672" y="4215384"/>
            <a:ext cx="548640" cy="54864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" y="4358030"/>
            <a:ext cx="263347" cy="263347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361688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508760" y="41422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C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模拟层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1508760" y="4507992"/>
            <a:ext cx="5623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· Unit · GameMap · 各 *System · ai/ —— 零 Swing 依赖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1005840" y="49560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6E8C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548640" y="5166360"/>
            <a:ext cx="6766560" cy="1024128"/>
          </a:xfrm>
          <a:prstGeom prst="roundRect">
            <a:avLst>
              <a:gd name="adj" fmla="val 8036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804672" y="5404104"/>
            <a:ext cx="548640" cy="54864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" y="5546750"/>
            <a:ext cx="263347" cy="263347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550408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508760" y="53309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</a:t>
            </a: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1508760" y="5696712"/>
            <a:ext cx="5623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UnitDefLoader · LevelLoader · MapLoader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7589520" y="1600200"/>
            <a:ext cx="4023360" cy="4617720"/>
          </a:xfrm>
          <a:prstGeom prst="roundRect">
            <a:avLst>
              <a:gd name="adj" fmla="val 2045"/>
            </a:avLst>
          </a:prstGeom>
          <a:solidFill>
            <a:srgbClr val="1B2842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24"/>
          <p:cNvSpPr/>
          <p:nvPr/>
        </p:nvSpPr>
        <p:spPr>
          <a:xfrm>
            <a:off x="786384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设计原则</a:t>
            </a:r>
            <a:endParaRPr lang="en-US" sz="1900" dirty="0"/>
          </a:p>
        </p:txBody>
      </p:sp>
      <p:sp>
        <p:nvSpPr>
          <p:cNvPr id="35" name="Shape 25"/>
          <p:cNvSpPr/>
          <p:nvPr/>
        </p:nvSpPr>
        <p:spPr>
          <a:xfrm>
            <a:off x="7882128" y="242316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26"/>
          <p:cNvSpPr/>
          <p:nvPr/>
        </p:nvSpPr>
        <p:spPr>
          <a:xfrm>
            <a:off x="8138160" y="23317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逻辑与渲染分离</a:t>
            </a:r>
            <a:endParaRPr lang="en-US" sz="1350" dirty="0"/>
          </a:p>
        </p:txBody>
      </p:sp>
      <p:sp>
        <p:nvSpPr>
          <p:cNvPr id="37" name="Text 27"/>
          <p:cNvSpPr/>
          <p:nvPr/>
        </p:nvSpPr>
        <p:spPr>
          <a:xfrm>
            <a:off x="8138160" y="2633472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层不依赖 AWT/Swing，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可独立做规则推演与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headless 测试。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7882128" y="3401568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9" name="Text 29"/>
          <p:cNvSpPr/>
          <p:nvPr/>
        </p:nvSpPr>
        <p:spPr>
          <a:xfrm>
            <a:off x="8138160" y="33101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8138160" y="3611880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 / 关卡 / </a:t>
            </a:r>
            <a:r>
              <a:rPr lang="en-US" sz="115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地图外置为配置文件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引擎只实现通用逻辑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7882128" y="4379976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2" name="Text 32"/>
          <p:cNvSpPr/>
          <p:nvPr/>
        </p:nvSpPr>
        <p:spPr>
          <a:xfrm>
            <a:off x="8138160" y="42885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驱动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8138160" y="4590288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固定步长 30 tick/s </a:t>
            </a:r>
            <a:r>
              <a:rPr lang="en-US" sz="115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推进战斗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保证规则推演可复现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7882128" y="5358384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5" name="Text 35"/>
          <p:cNvSpPr/>
          <p:nvPr/>
        </p:nvSpPr>
        <p:spPr>
          <a:xfrm>
            <a:off x="8138160" y="52669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优先</a:t>
            </a:r>
            <a:endParaRPr lang="en-US" sz="1350" dirty="0"/>
          </a:p>
        </p:txBody>
      </p:sp>
      <p:sp>
        <p:nvSpPr>
          <p:cNvPr id="46" name="Text 36"/>
          <p:cNvSpPr/>
          <p:nvPr/>
        </p:nvSpPr>
        <p:spPr>
          <a:xfrm>
            <a:off x="8138160" y="5568696"/>
            <a:ext cx="3246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先跑通选关→布兵→战斗→结算闭环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扩展特性留接口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核心技术：侦察—打击 AI 与寻路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47088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2018264"/>
            <a:ext cx="316017" cy="316017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299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7632" y="19019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侦察 FSM · ScoutAI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6868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加权评分选探索目标：未探索优先 + 奔远处 − 折返惩罚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MovementType 洪泛求连通可达区，修复潜艇原地冻结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避战寻路绕开已知敌人；机会主义出击（友军≥敌×1.5）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92240" y="1554480"/>
            <a:ext cx="5486400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766560" y="1847088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736" y="2018264"/>
            <a:ext cx="316017" cy="316017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02996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71232" y="19019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打击 FSM · StrikeAI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81228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MOVING_TO_TARGET → ATTACKING 三态流转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敌强我弱（敌 HP &gt; 友 HP×2）触发 RETREATING 撤退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闲置超 90 tick 自动转侦察，见敌即转回打击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4114800"/>
            <a:ext cx="5486400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960" y="4407408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136" y="4578584"/>
            <a:ext cx="316017" cy="316017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590288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27632" y="44622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情报共享 · IntelBoard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868680" y="51663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VisionSystem 把视野内敌人写入本阵营情报板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打击单位查情报板而非自身视野选目标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实现「侦察发现 → 共享情报 → 打击行动」链路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492240" y="4114800"/>
            <a:ext cx="5486400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766560" y="4407408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7736" y="4578584"/>
            <a:ext cx="316017" cy="316017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4590288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571232" y="44622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寻路 · Pathfinder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6812280" y="51663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邻接网格 + Octile 启发式，遵守「不穿角」规则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可选威胁场避让，按移动域校验地形通行性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MovementSystem 沿路径插值推进并旋转朝向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核心技术：四维攻击域克制矩阵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每个单位的「移动域 × 可攻击域」组合，是兵种克制与布阵策略的根基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7680960" cy="40965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移动域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打地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打水面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打空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BC0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打水下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轻型坦克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重型坦克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战列舰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驱逐舰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潜艇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拦截机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攻击机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7C28E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E6E8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03920" y="1965960"/>
            <a:ext cx="3108960" cy="1691640"/>
          </a:xfrm>
          <a:prstGeom prst="roundRect">
            <a:avLst>
              <a:gd name="adj" fmla="val 4865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732520" y="2212848"/>
            <a:ext cx="566928" cy="56692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921" y="2360249"/>
            <a:ext cx="272125" cy="27212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3682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18320" y="22494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驱逐舰：全域火力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732520" y="2788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唯一可同时打击地 / 水面 / 空 / 水下的单位，海战核心。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503920" y="3794760"/>
            <a:ext cx="3108960" cy="1691640"/>
          </a:xfrm>
          <a:prstGeom prst="roundRect">
            <a:avLst>
              <a:gd name="adj" fmla="val 4865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732520" y="4041648"/>
            <a:ext cx="566928" cy="56692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921" y="4189049"/>
            <a:ext cx="272125" cy="272125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4197096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18320" y="40782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潜艇：水下专精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732520" y="4617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只打水面 / 水下，无法被多数陆空单位反击，威胁极强。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AttackProfile.canTarget() 在 CombatSystem 选目标时统一裁决，错配目标被自动过滤。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核心技术：战争迷雾 · 射弹 · 渲染管线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1752" y="160020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50492" y="1965960"/>
            <a:ext cx="914400" cy="91440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36" y="2203704"/>
            <a:ext cx="438912" cy="43891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804" y="221284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" y="3017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C0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战争迷雾 (FR-20)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76072" y="36576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整图铺深蓝黑迷雾，再用 DstOut + 径向渐变以友方视野并集「擦」出柔和可视窗口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离屏 BufferedImage 缓存复用，边缘渐变过渡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视野外敌方单位与 HP 条由 hiddenByFog() 统一隐藏（FR-11）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160020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46420" y="1965960"/>
            <a:ext cx="914400" cy="91440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2203704"/>
            <a:ext cx="438912" cy="438912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2212848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80560" y="3017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射弹系统 (FR-21)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4572000" y="36576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开火发射飞行射弹而非瞬时扣血，到落点再结算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子弹：快速单体；炮弹：慢速群体，按距离线性衰减、不误伤友军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全程程序化绘制，受迷雾遮蔽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293608" y="160020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642348" y="1965960"/>
            <a:ext cx="914400" cy="91440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092" y="2203704"/>
            <a:ext cx="438912" cy="438912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2660" y="2212848"/>
            <a:ext cx="420624" cy="42062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476488" y="3017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渲染管线</a:t>
            </a:r>
            <a:endParaRPr lang="en-US" sz="1700" dirty="0"/>
          </a:p>
        </p:txBody>
      </p:sp>
      <p:sp>
        <p:nvSpPr>
          <p:cNvPr id="23" name="Text 15"/>
          <p:cNvSpPr/>
          <p:nvPr/>
        </p:nvSpPr>
        <p:spPr>
          <a:xfrm>
            <a:off x="8567928" y="36576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地形→装饰→网格→残骸→攻击圈→射弹→迷雾→单位→HP 条 分层绘制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底座与炮塔按各自朝向独立旋转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缩放 / 平移 / 框选交互，空中单位绘制地面阴影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数据驱动设计：JSON + .map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4617720"/>
          </a:xfrm>
          <a:prstGeom prst="roundRect">
            <a:avLst>
              <a:gd name="adj" fmla="val 1782"/>
            </a:avLst>
          </a:prstGeom>
          <a:solidFill>
            <a:srgbClr val="0E1626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C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data/units/light_tank.json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"light_tank",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"displayName": "轻型坦克",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"maxHp": 210,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"movementType": "LAND",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"sightRange": 120,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"attack":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"canAttackLand": true,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"canAttackWaterSurface": true,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"canAttackAir": false,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"maxAttackRange": 130,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"directDamage": 25,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"projectileType": "bullet",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"projectileSpeed": 9.0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.map 分层格式：[terrain] / [decoration] / [deploy] 三层字符网格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1600200"/>
            <a:ext cx="5074920" cy="1298448"/>
          </a:xfrm>
          <a:prstGeom prst="roundRect">
            <a:avLst>
              <a:gd name="adj" fmla="val 6338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84848" y="1929384"/>
            <a:ext cx="640080" cy="64008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269" y="2095805"/>
            <a:ext cx="307238" cy="307238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11226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1801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零依赖 JSON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589520" y="211226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手写递归下降解析器 Json.java，不引入任何第三方 JSON 库，单独配 15 个测试用例保证正确性。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537960" y="3017520"/>
            <a:ext cx="5074920" cy="1298448"/>
          </a:xfrm>
          <a:prstGeom prst="roundRect">
            <a:avLst>
              <a:gd name="adj" fmla="val 6338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84848" y="3346704"/>
            <a:ext cx="640080" cy="64008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269" y="3513125"/>
            <a:ext cx="307238" cy="307238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352958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89520" y="3218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享元单位定义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589520" y="352958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UnitDef 静态属性共享；role（侦察/打击）为运行时属性，由关卡或布兵阶段按实例指定。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537960" y="4434840"/>
            <a:ext cx="5074920" cy="1298448"/>
          </a:xfrm>
          <a:prstGeom prst="roundRect">
            <a:avLst>
              <a:gd name="adj" fmla="val 6338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784848" y="4764024"/>
            <a:ext cx="640080" cy="640080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1269" y="4930445"/>
            <a:ext cx="307238" cy="307238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4946904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89520" y="4636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分层地图引擎 v2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7589520" y="494690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种地形 + 装饰物 + 布兵标记三层；首行 cols rows tileSize，各层均可省略。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537960" y="5806440"/>
            <a:ext cx="5074920" cy="457200"/>
          </a:xfrm>
          <a:prstGeom prst="roundRect">
            <a:avLst>
              <a:gd name="adj" fmla="val 18000"/>
            </a:avLst>
          </a:prstGeom>
          <a:solidFill>
            <a:srgbClr val="1B2842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6675120" y="5806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个数据文件  =  </a:t>
            </a:r>
            <a:r>
              <a:rPr lang="en-US" sz="13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兵种 + </a:t>
            </a:r>
            <a:r>
              <a:rPr lang="en-US" sz="13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关卡 + </a:t>
            </a:r>
            <a:r>
              <a:rPr lang="en-US" sz="13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   ·   加内容通常无需改代码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代码规模与模块分布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01368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5BC0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主代码文件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43784" y="160020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35224" y="1801368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5,286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2935224" y="2496312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主代码行数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38928" y="160020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30368" y="1801368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5230368" y="2496312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测试文件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34072" y="160020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25512" y="1801368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3,167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7525512" y="2496312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测试代码行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729216" y="1600200"/>
            <a:ext cx="2157984" cy="1371600"/>
          </a:xfrm>
          <a:prstGeom prst="roundRect">
            <a:avLst>
              <a:gd name="adj" fmla="val 600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20656" y="1801368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37C2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≈0.6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9820656" y="2496312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 / 主代码比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6309360" cy="3017520"/>
          </a:xfrm>
          <a:prstGeom prst="roundRect">
            <a:avLst>
              <a:gd name="adj" fmla="val 2727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模块分布（主代码文件数）</a:t>
            </a:r>
            <a:endParaRPr lang="en-US" sz="14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40080" y="3749040"/>
          <a:ext cx="61264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7086600" y="3200400"/>
            <a:ext cx="4526280" cy="3017520"/>
          </a:xfrm>
          <a:prstGeom prst="roundRect">
            <a:avLst>
              <a:gd name="adj" fmla="val 2727"/>
            </a:avLst>
          </a:prstGeom>
          <a:solidFill>
            <a:srgbClr val="1B2842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60920" y="3337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各模块职责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360920" y="3794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BC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5820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纯仿真：World 聚合根、地图、视野/战斗/射弹/寻路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360920" y="427939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BC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458200" y="42793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渲染：各 Renderer、SpriteCache、输入处理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360920" y="4764024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BC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458200" y="47640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流程控制：状态机、GameLoop、布兵控制器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360920" y="5248656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BC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8458200" y="52486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数据加载：手写 JSON 解析 + 单位/关卡/地图加载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360920" y="57332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BC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458200" y="57332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调度：AISystem、ScoutAI、StrikeAI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关键开发过程：四阶段迭代脉络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1752" y="1691640"/>
            <a:ext cx="2697480" cy="4297680"/>
          </a:xfrm>
          <a:prstGeom prst="roundRect">
            <a:avLst>
              <a:gd name="adj" fmla="val 3051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66444" y="1965960"/>
            <a:ext cx="768096" cy="768096"/>
          </a:xfrm>
          <a:prstGeom prst="ellipse">
            <a:avLst/>
          </a:prstGeom>
          <a:solidFill>
            <a:srgbClr val="1B2842"/>
          </a:solidFill>
          <a:ln w="19050">
            <a:solidFill>
              <a:srgbClr val="5BC0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444" y="2002536"/>
            <a:ext cx="7680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C0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4632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基础原型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" y="32644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5/29 – 5/31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57784" y="37490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单位移动 → 自动战斗 → 选关/全屏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打包 exe → 接入美术素材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搭起「能跑的一局 + 可发行」最小闭环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246120" y="1691640"/>
            <a:ext cx="2697480" cy="4297680"/>
          </a:xfrm>
          <a:prstGeom prst="roundRect">
            <a:avLst>
              <a:gd name="adj" fmla="val 3051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10812" y="1965960"/>
            <a:ext cx="768096" cy="768096"/>
          </a:xfrm>
          <a:prstGeom prst="ellipse">
            <a:avLst/>
          </a:prstGeom>
          <a:solidFill>
            <a:srgbClr val="1B2842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10812" y="2002536"/>
            <a:ext cx="7680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900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核心玩法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32644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6/01 – 6/05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02152" y="37490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追击、框选选中、背景音乐、死亡残骸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修正攻击域、渲染攻击范围（FR-11/20/21）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打磨为有侦察—打击协同的可玩玩法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190488" y="1691640"/>
            <a:ext cx="2697480" cy="4297680"/>
          </a:xfrm>
          <a:prstGeom prst="roundRect">
            <a:avLst>
              <a:gd name="adj" fmla="val 3051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55180" y="1965960"/>
            <a:ext cx="768096" cy="768096"/>
          </a:xfrm>
          <a:prstGeom prst="ellipse">
            <a:avLst/>
          </a:prstGeom>
          <a:solidFill>
            <a:srgbClr val="1B2842"/>
          </a:solidFill>
          <a:ln w="19050">
            <a:solidFill>
              <a:srgbClr val="37C2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5180" y="2002536"/>
            <a:ext cx="7680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7C2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73368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测试体系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73368" y="32644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37C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6/06 – 6/12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37490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8 类单元 / 集成测试 + 可视化回放器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修复僵局不判定卡死的缺陷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从「能跑」走向「可验证、可回归」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134856" y="1691640"/>
            <a:ext cx="2697480" cy="4297680"/>
          </a:xfrm>
          <a:prstGeom prst="roundRect">
            <a:avLst>
              <a:gd name="adj" fmla="val 3051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9548" y="1965960"/>
            <a:ext cx="768096" cy="768096"/>
          </a:xfrm>
          <a:prstGeom prst="ellipse">
            <a:avLst/>
          </a:prstGeom>
          <a:solidFill>
            <a:srgbClr val="1B2842"/>
          </a:solidFill>
          <a:ln w="19050">
            <a:solidFill>
              <a:srgbClr val="F254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99548" y="2002536"/>
            <a:ext cx="7680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317736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玩法完善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17736" y="32644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6/18 – 6/20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90888" y="374904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兵种价格 + 资金制布兵（FR-12）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结算原因说明（FR-27）、兵种简介（FR-13）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补齐策略深度与信息呈现，新增关卡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质量保障与测试成果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200400" cy="2194560"/>
          </a:xfrm>
          <a:prstGeom prst="roundRect">
            <a:avLst>
              <a:gd name="adj" fmla="val 3750"/>
            </a:avLst>
          </a:prstGeom>
          <a:solidFill>
            <a:srgbClr val="1B2842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37C2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个自动化测试用例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· headless 全自动执行 · 全部通过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200400" cy="2194560"/>
          </a:xfrm>
          <a:prstGeom prst="roundRect">
            <a:avLst>
              <a:gd name="adj" fmla="val 375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用例类型占比</a:t>
            </a:r>
            <a:endParaRPr lang="en-US" sz="12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40080" y="4434840"/>
          <a:ext cx="30175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4023360" y="1645920"/>
            <a:ext cx="7589520" cy="2331720"/>
          </a:xfrm>
          <a:prstGeom prst="roundRect">
            <a:avLst>
              <a:gd name="adj" fmla="val 3529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297680" y="18105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分层测试策略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15968" y="2340864"/>
            <a:ext cx="137160" cy="1371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4553712" y="2240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可视化场景 (Scenario)  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复用渲染链路演示与离屏自检（11 个场景）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15968" y="2761488"/>
            <a:ext cx="137160" cy="137160"/>
          </a:xfrm>
          <a:prstGeom prst="ellipse">
            <a:avLst/>
          </a:prstGeom>
          <a:solidFill>
            <a:srgbClr val="5BC0EB"/>
          </a:solidFill>
          <a:ln/>
        </p:spPr>
      </p:sp>
      <p:sp>
        <p:nvSpPr>
          <p:cNvPr id="18" name="Text 15"/>
          <p:cNvSpPr/>
          <p:nvPr/>
        </p:nvSpPr>
        <p:spPr>
          <a:xfrm>
            <a:off x="4553712" y="266090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集成测试 (*IT)  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验证跨模块链路与完整推演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315968" y="3182112"/>
            <a:ext cx="137160" cy="137160"/>
          </a:xfrm>
          <a:prstGeom prst="ellipse">
            <a:avLst/>
          </a:prstGeom>
          <a:solidFill>
            <a:srgbClr val="37C28E"/>
          </a:solidFill>
          <a:ln/>
        </p:spPr>
      </p:sp>
      <p:sp>
        <p:nvSpPr>
          <p:cNvPr id="20" name="Text 17"/>
          <p:cNvSpPr/>
          <p:nvPr/>
        </p:nvSpPr>
        <p:spPr>
          <a:xfrm>
            <a:off x="4553712" y="30815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单元测试 (*Test)  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验证各模块独立功能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315968" y="3602736"/>
            <a:ext cx="137160" cy="137160"/>
          </a:xfrm>
          <a:prstGeom prst="ellipse">
            <a:avLst/>
          </a:prstGeom>
          <a:solidFill>
            <a:srgbClr val="5E6E8C"/>
          </a:solidFill>
          <a:ln/>
        </p:spPr>
      </p:sp>
      <p:sp>
        <p:nvSpPr>
          <p:cNvPr id="22" name="Text 19"/>
          <p:cNvSpPr/>
          <p:nvPr/>
        </p:nvSpPr>
        <p:spPr>
          <a:xfrm>
            <a:off x="4553712" y="350215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测试夹具 (Fixtures)  </a:t>
            </a:r>
            <a:r>
              <a:rPr lang="en-US" sz="11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纯代码构造地图 / 单位 / 世界，无需磁盘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023360" y="4160520"/>
            <a:ext cx="7589520" cy="2057400"/>
          </a:xfrm>
          <a:prstGeom prst="roundRect">
            <a:avLst>
              <a:gd name="adj" fmla="val 4000"/>
            </a:avLst>
          </a:prstGeom>
          <a:solidFill>
            <a:srgbClr val="1B2842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297680" y="43159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覆盖范围与方法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297680" y="468172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核心业务逻辑全覆盖：JSON 解析 · 数据加载 · 地图通行性 · 攻击域命中 · A* 寻路 · 情报侦察 · 战斗结算 · 射弹 · 移动转向 · 胜负判定。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297680" y="53492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测试设计方法：等价类划分 · 边界值分析（90% 损失边界）· 判定表（攻击域 / 地形矩阵）· 状态转换（FSM）· Given-When-Then。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遇到的问题与解决方案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0896" y="15544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28800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04" y="1999976"/>
            <a:ext cx="316017" cy="316017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116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62456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362456" y="2103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Maven / Gradle 的依赖与构建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85216" y="285292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kern="0" spc="100" dirty="0">
                <a:solidFill>
                  <a:srgbClr val="37C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  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libs/ 放纯 jar + PowerShell 脚本拼 classpath；jlink + 原生 launcher 产出自包含 exe，用户免装 JDK。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06824" y="15544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62856" y="1828800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32" y="1999976"/>
            <a:ext cx="316017" cy="316017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01168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58384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358384" y="2103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避免引入第三方 JSON 库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81144" y="285292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kern="0" spc="100" dirty="0">
                <a:solidFill>
                  <a:srgbClr val="37C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  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手写递归下降 JSON 解析器保持零依赖，并单独编写 15 个测试用例保证其正确性。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302752" y="15544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558784" y="1828800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960" y="1999976"/>
            <a:ext cx="316017" cy="316017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2011680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354312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9354312" y="2103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战斗僵局导致测试卡死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577072" y="285292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kern="0" spc="100" dirty="0">
                <a:solidFill>
                  <a:srgbClr val="37C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  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引入僵持超时判定（STALEMATE）：双方长时间无伤亡即按损失率结算，并补测试防回归。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310896" y="40690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66928" y="4343400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104" y="4514576"/>
            <a:ext cx="316017" cy="316017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526280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362456" y="43799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1362456" y="4617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战场只剩侦察单位而停滞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585216" y="536752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kern="0" spc="100" dirty="0">
                <a:solidFill>
                  <a:srgbClr val="37C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  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空闲打击单位超时自动转侦察主动寻敌；情报板一旦报告有敌即转回打击，保证战场持续推进。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306824" y="40690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4562856" y="4343400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4032" y="4514576"/>
            <a:ext cx="316017" cy="316017"/>
          </a:xfrm>
          <a:prstGeom prst="rect">
            <a:avLst/>
          </a:prstGeom>
        </p:spPr>
      </p:pic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4526280"/>
            <a:ext cx="292608" cy="29260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358384" y="43799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5358384" y="4617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潜艇 / 水域单位原地冻结</a:t>
            </a:r>
            <a:endParaRPr lang="en-US" sz="1300" dirty="0"/>
          </a:p>
        </p:txBody>
      </p:sp>
      <p:sp>
        <p:nvSpPr>
          <p:cNvPr id="40" name="Text 28"/>
          <p:cNvSpPr/>
          <p:nvPr/>
        </p:nvSpPr>
        <p:spPr>
          <a:xfrm>
            <a:off x="4581144" y="536752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kern="0" spc="100" dirty="0">
                <a:solidFill>
                  <a:srgbClr val="37C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  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pickGoal 先按移动域洪泛求连通可达区，评分只考虑真正可达的区块，杜绝寻路 null 导致的冻结。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8302752" y="406908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8558784" y="4343400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9960" y="4514576"/>
            <a:ext cx="316017" cy="316017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1664" y="4526280"/>
            <a:ext cx="292608" cy="292608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9354312" y="43799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000" dirty="0"/>
          </a:p>
        </p:txBody>
      </p:sp>
      <p:sp>
        <p:nvSpPr>
          <p:cNvPr id="46" name="Text 32"/>
          <p:cNvSpPr/>
          <p:nvPr/>
        </p:nvSpPr>
        <p:spPr>
          <a:xfrm>
            <a:off x="9354312" y="4617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模型层零 Swing 依赖</a:t>
            </a:r>
            <a:endParaRPr lang="en-US" sz="1300" dirty="0"/>
          </a:p>
        </p:txBody>
      </p:sp>
      <p:sp>
        <p:nvSpPr>
          <p:cNvPr id="47" name="Text 33"/>
          <p:cNvSpPr/>
          <p:nvPr/>
        </p:nvSpPr>
        <p:spPr>
          <a:xfrm>
            <a:off x="8577072" y="536752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kern="0" spc="100" dirty="0">
                <a:solidFill>
                  <a:srgbClr val="37C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  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严格分层使核心逻辑可 headless 测试，并被可视化场景回放器复用。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943BC-D0E4-DE0A-2C4A-E5EF2090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189C0D-9F8F-9B58-3D23-FB5FDBA3CF02}"/>
              </a:ext>
            </a:extLst>
          </p:cNvPr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F6E028-C8B8-ECB8-98AE-081D8735EB0F}"/>
              </a:ext>
            </a:extLst>
          </p:cNvPr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项目成果展示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3AC424-4A0A-FD39-B29E-DE91091A1E9D}"/>
              </a:ext>
            </a:extLst>
          </p:cNvPr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34F9D8-3E8F-9B28-3BA5-E4A30499463F}"/>
              </a:ext>
            </a:extLst>
          </p:cNvPr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FFA4CAA5-C078-C974-89A6-19B7AB897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" y="1298448"/>
            <a:ext cx="9477375" cy="528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58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46C6C-BB70-CA7F-BCCF-D968AB48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B26EBB-ADA6-7243-AB8A-F99EBA435287}"/>
              </a:ext>
            </a:extLst>
          </p:cNvPr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02950B-10D0-25EF-A514-38828C13261C}"/>
              </a:ext>
            </a:extLst>
          </p:cNvPr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项目成果展示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E0F9897-4B30-332D-67FC-C8E29A9CD6DB}"/>
              </a:ext>
            </a:extLst>
          </p:cNvPr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CFA868-5221-AD1A-683A-B938D592F2A0}"/>
              </a:ext>
            </a:extLst>
          </p:cNvPr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25BE45-F50F-4748-81A6-D8303FD32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04"/>
            <a:ext cx="12192000" cy="682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213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82753-2B8F-1D15-3B4D-C49872777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7D90B3-93A3-635F-A709-FECBB5D0599E}"/>
              </a:ext>
            </a:extLst>
          </p:cNvPr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E8FD5C-0177-8427-ABC2-E0FEA614C6B1}"/>
              </a:ext>
            </a:extLst>
          </p:cNvPr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项目成果展示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05854B-7A1B-0C05-E558-B0EBCC934E03}"/>
              </a:ext>
            </a:extLst>
          </p:cNvPr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BE2DA0-BE3F-F79A-5F40-AF1BF926E733}"/>
              </a:ext>
            </a:extLst>
          </p:cNvPr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C43CBE-F3AA-A8D4-EA03-978CDE75C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191"/>
            <a:ext cx="12192000" cy="677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57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37389-75E3-46E7-53DB-9676D6853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70488D-5F46-93DB-31DE-9281B4070ED2}"/>
              </a:ext>
            </a:extLst>
          </p:cNvPr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F37C1F-7217-677D-9C5A-4D9F6097F1B9}"/>
              </a:ext>
            </a:extLst>
          </p:cNvPr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项目成果展示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EDD0DC-0F39-9077-1C8B-01FC7855E72C}"/>
              </a:ext>
            </a:extLst>
          </p:cNvPr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670615-9928-8E6C-E6D0-04C3655FFDC1}"/>
              </a:ext>
            </a:extLst>
          </p:cNvPr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D4CC8AD-5A18-16EF-0977-10D7EA5B2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88"/>
            <a:ext cx="12192000" cy="679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04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项目总结：已交付亮点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0515" y="1572768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77543" y="1865376"/>
            <a:ext cx="877824" cy="87782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777" y="2093610"/>
            <a:ext cx="421356" cy="421356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855" y="2093976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115" y="285292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数据驱动内容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84835" y="323697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加兵种 / </a:t>
            </a:r>
            <a:r>
              <a:rPr lang="en-US" sz="11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关卡通常无需改代码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引擎只实现通用逻辑</a:t>
            </a: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06443" y="1572768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73471" y="1865376"/>
            <a:ext cx="877824" cy="87782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705" y="2093610"/>
            <a:ext cx="421356" cy="421356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83" y="2093976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35043" y="285292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自包含 exe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535043" y="323697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jlink + 原生 launcher，双击即玩，用户免装 JDK。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302371" y="1572768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669399" y="1865376"/>
            <a:ext cx="877824" cy="87782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633" y="2093610"/>
            <a:ext cx="421356" cy="421356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9711" y="2093976"/>
            <a:ext cx="420624" cy="42062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530971" y="285292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 用例测试体系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8576691" y="323697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全自动执行，核心业务逻辑全覆盖。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310515" y="4059936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677543" y="4352544"/>
            <a:ext cx="877824" cy="87782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777" y="4580778"/>
            <a:ext cx="421356" cy="421356"/>
          </a:xfrm>
          <a:prstGeom prst="rect">
            <a:avLst/>
          </a:prstGeom>
        </p:spPr>
      </p:pic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7855" y="4581144"/>
            <a:ext cx="420624" cy="42062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39115" y="534009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可视化回放工具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584835" y="572414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复用渲染链路做确定性场景演示与离屏自检。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4306443" y="4059936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5673471" y="4352544"/>
            <a:ext cx="877824" cy="87782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1705" y="4580778"/>
            <a:ext cx="421356" cy="421356"/>
          </a:xfrm>
          <a:prstGeom prst="rect">
            <a:avLst/>
          </a:prstGeom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3783" y="4581144"/>
            <a:ext cx="420624" cy="420624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535043" y="534009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资金制布兵</a:t>
            </a:r>
            <a:endParaRPr lang="en-US" sz="1600" dirty="0"/>
          </a:p>
        </p:txBody>
      </p:sp>
      <p:sp>
        <p:nvSpPr>
          <p:cNvPr id="35" name="Text 23"/>
          <p:cNvSpPr/>
          <p:nvPr/>
        </p:nvSpPr>
        <p:spPr>
          <a:xfrm>
            <a:off x="4458272" y="5724144"/>
            <a:ext cx="33082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按价格自由组合兵力，带来真实的策略组合深度。</a:t>
            </a:r>
            <a:endParaRPr lang="en-US" sz="1100" dirty="0"/>
          </a:p>
        </p:txBody>
      </p:sp>
      <p:sp>
        <p:nvSpPr>
          <p:cNvPr id="36" name="Shape 24"/>
          <p:cNvSpPr/>
          <p:nvPr/>
        </p:nvSpPr>
        <p:spPr>
          <a:xfrm>
            <a:off x="8302371" y="4059936"/>
            <a:ext cx="3611880" cy="2194560"/>
          </a:xfrm>
          <a:prstGeom prst="roundRect">
            <a:avLst>
              <a:gd name="adj" fmla="val 3750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9669399" y="4352544"/>
            <a:ext cx="877824" cy="87782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7633" y="4580778"/>
            <a:ext cx="421356" cy="421356"/>
          </a:xfrm>
          <a:prstGeom prst="rect">
            <a:avLst/>
          </a:prstGeom>
        </p:spPr>
      </p:pic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9711" y="4581144"/>
            <a:ext cx="420624" cy="420624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8530971" y="534009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严格分层架构</a:t>
            </a:r>
            <a:endParaRPr lang="en-US" sz="1600" dirty="0"/>
          </a:p>
        </p:txBody>
      </p:sp>
      <p:sp>
        <p:nvSpPr>
          <p:cNvPr id="41" name="Text 27"/>
          <p:cNvSpPr/>
          <p:nvPr/>
        </p:nvSpPr>
        <p:spPr>
          <a:xfrm>
            <a:off x="8521446" y="5713095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零 Swing 依赖，逻辑可独立推演与测试。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反思与未来工作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89920" y="3840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89920" y="676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120640" cy="4617720"/>
          </a:xfrm>
          <a:prstGeom prst="roundRect">
            <a:avLst>
              <a:gd name="adj" fmla="val 1782"/>
            </a:avLst>
          </a:prstGeom>
          <a:solidFill>
            <a:srgbClr val="1B2842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151F3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2045696"/>
            <a:ext cx="316017" cy="316017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7632" y="1938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反思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2296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严格分层带来的红利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300837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零 Swing </a:t>
            </a:r>
            <a:r>
              <a:rPr lang="en-US" sz="12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依赖虽然前期克制</a:t>
            </a:r>
            <a:r>
              <a:rPr lang="en-US" sz="12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但换来可</a:t>
            </a:r>
            <a:r>
              <a:rPr lang="en-US" sz="12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headless 测试、可被回放器复用的长期收益。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3867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数据驱动的取舍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2960" y="41788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手写 JSON </a:t>
            </a:r>
            <a:r>
              <a:rPr lang="en-US" sz="12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解析省去依赖、便于教学</a:t>
            </a:r>
            <a:r>
              <a:rPr lang="en-US" sz="12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但也付出了额外的解析器测试成本</a:t>
            </a:r>
            <a:r>
              <a:rPr lang="en-US" sz="12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5038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先闭环再完善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22960" y="53492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优先策略让团队 3 天内就有可玩 demo，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 err="1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后续迭代始终围绕真实可玩的版本展开</a:t>
            </a:r>
            <a:r>
              <a:rPr lang="en-US" sz="12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0" y="1600200"/>
            <a:ext cx="5669280" cy="4617720"/>
          </a:xfrm>
          <a:prstGeom prst="roundRect">
            <a:avLst>
              <a:gd name="adj" fmla="val 1782"/>
            </a:avLst>
          </a:prstGeom>
          <a:solidFill>
            <a:srgbClr val="151F35"/>
          </a:solidFill>
          <a:ln w="12700">
            <a:solidFill>
              <a:srgbClr val="29344E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874520"/>
            <a:ext cx="658368" cy="658368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096" y="2045696"/>
            <a:ext cx="316017" cy="316017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05740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22592" y="1938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未来工作</a:t>
            </a:r>
            <a:endParaRPr lang="en-US" sz="2000" dirty="0"/>
          </a:p>
        </p:txBody>
      </p:sp>
      <p:sp>
        <p:nvSpPr>
          <p:cNvPr id="22" name="Shape 16"/>
          <p:cNvSpPr/>
          <p:nvPr/>
        </p:nvSpPr>
        <p:spPr>
          <a:xfrm>
            <a:off x="6236208" y="2651760"/>
            <a:ext cx="512064" cy="51206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9345" y="2784897"/>
            <a:ext cx="245791" cy="245791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2788920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03720" y="26151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关卡编辑器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903720" y="29077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图形化自定义关卡（FR-04），支持用户自建地图，提升可玩性。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236208" y="3364992"/>
            <a:ext cx="512064" cy="51206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9345" y="3498129"/>
            <a:ext cx="245791" cy="245791"/>
          </a:xfrm>
          <a:prstGeom prst="rect">
            <a:avLst/>
          </a:prstGeom>
        </p:spPr>
      </p:pic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502152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903720" y="33284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潜艇浮出水面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6903720" y="362102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水面 / 水下模式切换（FR-22），攻击域、射程随之切换。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6236208" y="4078224"/>
            <a:ext cx="512064" cy="51206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9345" y="4211361"/>
            <a:ext cx="245791" cy="245791"/>
          </a:xfrm>
          <a:prstGeom prst="rect">
            <a:avLst/>
          </a:prstGeom>
        </p:spPr>
      </p:pic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4215384"/>
            <a:ext cx="237744" cy="23774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903720" y="40416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局内策略调整</a:t>
            </a:r>
            <a:endParaRPr lang="en-US" sz="1350" dirty="0"/>
          </a:p>
        </p:txBody>
      </p:sp>
      <p:sp>
        <p:nvSpPr>
          <p:cNvPr id="36" name="Text 24"/>
          <p:cNvSpPr/>
          <p:nvPr/>
        </p:nvSpPr>
        <p:spPr>
          <a:xfrm>
            <a:off x="6903720" y="433425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侧栏实时调整 AI 总体倾向（激进 / 保守，FR-23），增强参与感。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6236208" y="4791456"/>
            <a:ext cx="512064" cy="51206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345" y="4924593"/>
            <a:ext cx="245791" cy="245791"/>
          </a:xfrm>
          <a:prstGeom prst="rect">
            <a:avLst/>
          </a:prstGeom>
        </p:spPr>
      </p:pic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4928616"/>
            <a:ext cx="237744" cy="237744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903720" y="4754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完整音效体系</a:t>
            </a:r>
            <a:endParaRPr lang="en-US" sz="1350" dirty="0"/>
          </a:p>
        </p:txBody>
      </p:sp>
      <p:sp>
        <p:nvSpPr>
          <p:cNvPr id="41" name="Text 27"/>
          <p:cNvSpPr/>
          <p:nvPr/>
        </p:nvSpPr>
        <p:spPr>
          <a:xfrm>
            <a:off x="6903720" y="504748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补齐点击 UI、炮弹爆炸、单位攻击等具体音效。</a:t>
            </a:r>
            <a:endParaRPr lang="en-US" sz="1100" dirty="0"/>
          </a:p>
        </p:txBody>
      </p:sp>
      <p:sp>
        <p:nvSpPr>
          <p:cNvPr id="42" name="Shape 28"/>
          <p:cNvSpPr/>
          <p:nvPr/>
        </p:nvSpPr>
        <p:spPr>
          <a:xfrm>
            <a:off x="6236208" y="5504688"/>
            <a:ext cx="512064" cy="512064"/>
          </a:xfrm>
          <a:prstGeom prst="ellipse">
            <a:avLst/>
          </a:prstGeom>
          <a:solidFill>
            <a:srgbClr val="1B2842"/>
          </a:solidFill>
          <a:ln/>
        </p:spPr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9345" y="5637825"/>
            <a:ext cx="245791" cy="245791"/>
          </a:xfrm>
          <a:prstGeom prst="rect">
            <a:avLst/>
          </a:prstGeom>
        </p:spPr>
      </p:pic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368" y="5641848"/>
            <a:ext cx="237744" cy="237744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6903720" y="54681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单位本体动态化</a:t>
            </a:r>
            <a:endParaRPr lang="en-US" sz="1350" dirty="0"/>
          </a:p>
        </p:txBody>
      </p:sp>
      <p:sp>
        <p:nvSpPr>
          <p:cNvPr id="46" name="Text 30"/>
          <p:cNvSpPr/>
          <p:nvPr/>
        </p:nvSpPr>
        <p:spPr>
          <a:xfrm>
            <a:off x="6903720" y="57607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当前为静态贴图，未来加入帧动画与更丰富的动态表现。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0440" y="868680"/>
            <a:ext cx="5120640" cy="5120640"/>
          </a:xfrm>
          <a:prstGeom prst="ellipse">
            <a:avLst/>
          </a:prstGeom>
          <a:solidFill>
            <a:srgbClr val="0B1220">
              <a:alpha val="0"/>
            </a:srgbClr>
          </a:solidFill>
          <a:ln w="9525">
            <a:solidFill>
              <a:srgbClr val="5BC0E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60520" y="1508760"/>
            <a:ext cx="3840480" cy="3840480"/>
          </a:xfrm>
          <a:prstGeom prst="ellipse">
            <a:avLst/>
          </a:prstGeom>
          <a:solidFill>
            <a:srgbClr val="0B1220">
              <a:alpha val="0"/>
            </a:srgbClr>
          </a:solidFill>
          <a:ln w="9525">
            <a:solidFill>
              <a:srgbClr val="5BC0EB">
                <a:alpha val="1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00600" y="2148840"/>
            <a:ext cx="2560320" cy="2560320"/>
          </a:xfrm>
          <a:prstGeom prst="ellipse">
            <a:avLst/>
          </a:prstGeom>
          <a:solidFill>
            <a:srgbClr val="0B1220">
              <a:alpha val="0"/>
            </a:srgbClr>
          </a:solidFill>
          <a:ln w="9525">
            <a:solidFill>
              <a:srgbClr val="5BC0EB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B1220">
              <a:alpha val="0"/>
            </a:srgbClr>
          </a:solidFill>
          <a:ln w="9525">
            <a:solidFill>
              <a:srgbClr val="5BC0EB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20440" y="3429000"/>
            <a:ext cx="5120640" cy="0"/>
          </a:xfrm>
          <a:prstGeom prst="line">
            <a:avLst/>
          </a:prstGeom>
          <a:noFill/>
          <a:ln w="6350">
            <a:solidFill>
              <a:srgbClr val="5BC0EB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868680"/>
            <a:ext cx="0" cy="5120640"/>
          </a:xfrm>
          <a:prstGeom prst="line">
            <a:avLst/>
          </a:prstGeom>
          <a:noFill/>
          <a:ln w="6350">
            <a:solidFill>
              <a:srgbClr val="5BC0EB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33172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0" y="33832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敬请批评</a:t>
            </a:r>
            <a:r>
              <a:rPr lang="en-US" sz="1800" dirty="0" err="1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与指正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40233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Domains: Unmanned Warfare Sim  ·  GDUWS  ·  2026-06-20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4348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CN" sz="1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杨茂靓 · </a:t>
            </a:r>
            <a:r>
              <a:rPr lang="zh-CN" altLang="en-US" sz="1200" dirty="0">
                <a:solidFill>
                  <a:srgbClr val="5E6E8C"/>
                </a:solidFill>
                <a:latin typeface="Calibri" pitchFamily="34" charset="0"/>
                <a:cs typeface="Calibri" pitchFamily="34" charset="-120"/>
              </a:rPr>
              <a:t>金政轩</a:t>
            </a:r>
            <a:r>
              <a:rPr lang="en-US" altLang="zh-CN" sz="12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zh-CN" altLang="en-US" sz="1200" dirty="0">
                <a:solidFill>
                  <a:srgbClr val="5E6E8C"/>
                </a:solidFill>
                <a:latin typeface="Calibri" pitchFamily="34" charset="0"/>
                <a:cs typeface="Calibri" pitchFamily="34" charset="-120"/>
              </a:rPr>
              <a:t>丁开琦</a:t>
            </a:r>
            <a:endParaRPr lang="en-US" altLang="zh-CN" sz="1200" dirty="0">
              <a:solidFill>
                <a:srgbClr val="5E6E8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1282</Words>
  <Application>Microsoft Office PowerPoint</Application>
  <PresentationFormat>宽屏</PresentationFormat>
  <Paragraphs>387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Ghost Domains: Unmanned Warfare Sim — 项目总结报告</dc:title>
  <dc:subject>PptxGenJS Presentation</dc:subject>
  <dc:creator>GDUWS Team</dc:creator>
  <cp:lastModifiedBy>茂靓 杨</cp:lastModifiedBy>
  <cp:revision>17</cp:revision>
  <dcterms:created xsi:type="dcterms:W3CDTF">2026-06-20T07:35:03Z</dcterms:created>
  <dcterms:modified xsi:type="dcterms:W3CDTF">2026-06-20T07:52:05Z</dcterms:modified>
</cp:coreProperties>
</file>